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71" r:id="rId13"/>
    <p:sldId id="272" r:id="rId14"/>
    <p:sldId id="267" r:id="rId15"/>
    <p:sldId id="273" r:id="rId16"/>
    <p:sldId id="268" r:id="rId17"/>
    <p:sldId id="274" r:id="rId18"/>
    <p:sldId id="275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85F"/>
    <a:srgbClr val="475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50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53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76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7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13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0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1238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Detekcija upale pluća iz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rendgenskih snimki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22128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21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en-US" sz="2100" b="1" i="1" dirty="0" err="1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Klasifikacija</a:t>
            </a:r>
            <a:r>
              <a:rPr lang="en-US" sz="21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100" b="1" i="1" dirty="0" err="1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medicinskih</a:t>
            </a:r>
            <a:r>
              <a:rPr lang="en-US" sz="21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100" b="1" i="1" dirty="0" err="1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slika</a:t>
            </a:r>
            <a:r>
              <a:rPr lang="hr-HR" sz="21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59536" y="2834640"/>
            <a:ext cx="914400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054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Tomislav Perković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Sveučilište J. J. Strossmayera u Osijeku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0680" y="30175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0070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KONSTRUKCIJSKE VJEŽBE IZ KOLEGIJA: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23560" y="347190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Strojno učenje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Osijek, 2026.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6">
            <a:extLst>
              <a:ext uri="{FF2B5EF4-FFF2-40B4-BE49-F238E27FC236}">
                <a16:creationId xmlns:a16="http://schemas.microsoft.com/office/drawing/2014/main" id="{DCDE94A2-56F5-F6C3-1F40-10A953C0DF7F}"/>
              </a:ext>
            </a:extLst>
          </p:cNvPr>
          <p:cNvSpPr/>
          <p:nvPr/>
        </p:nvSpPr>
        <p:spPr>
          <a:xfrm>
            <a:off x="339029" y="1448620"/>
            <a:ext cx="3931920" cy="2971800"/>
          </a:xfrm>
          <a:prstGeom prst="roundRect">
            <a:avLst>
              <a:gd name="adj" fmla="val 1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Opis projektnog zadatka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Text 3"/>
          <p:cNvSpPr/>
          <p:nvPr/>
        </p:nvSpPr>
        <p:spPr>
          <a:xfrm>
            <a:off x="512415" y="1552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4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ZADATAK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1913556"/>
            <a:ext cx="3719497" cy="1842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Binarna klasifikacija rendgenskih snimki </a:t>
            </a:r>
            <a:r>
              <a:rPr lang="en-US" sz="14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prsnog</a:t>
            </a: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koša</a:t>
            </a:r>
            <a:r>
              <a:rPr lang="hr-HR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</a:p>
          <a:p>
            <a:pPr marL="0" indent="0" algn="ctr">
              <a:buNone/>
            </a:pPr>
            <a:endParaRPr lang="hr-HR" sz="1350" b="1" dirty="0">
              <a:solidFill>
                <a:srgbClr val="12385F"/>
              </a:solidFill>
              <a:latin typeface="Cambria" pitchFamily="34" charset="0"/>
              <a:ea typeface="Cambria" pitchFamily="34" charset="-122"/>
              <a:cs typeface="Calibri" pitchFamily="34" charset="-120"/>
            </a:endParaRPr>
          </a:p>
          <a:p>
            <a:pPr lvl="1">
              <a:spcAft>
                <a:spcPts val="1000"/>
              </a:spcAft>
              <a:buSzPct val="100000"/>
            </a:pP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NORMAL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uredan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  <a:p>
            <a:pPr lvl="1">
              <a:spcAft>
                <a:spcPts val="1000"/>
              </a:spcAft>
              <a:buSzPct val="100000"/>
            </a:pP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PNEUMONIA 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upala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pluća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hr-HR" sz="135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1889" y="3428648"/>
            <a:ext cx="3886200" cy="99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1000"/>
              </a:spcAft>
              <a:buSzPct val="100000"/>
            </a:pP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automatska analiza </a:t>
            </a:r>
            <a:r>
              <a:rPr lang="en-US" sz="140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radioloških</a:t>
            </a: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nalaza</a:t>
            </a:r>
            <a:endParaRPr lang="en-US" sz="1400" b="1" dirty="0"/>
          </a:p>
          <a:p>
            <a:pPr algn="ctr">
              <a:spcAft>
                <a:spcPts val="1000"/>
              </a:spcAft>
              <a:buSzPct val="100000"/>
            </a:pP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Primarni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naglasak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hr-HR" sz="1400" b="1" u="sng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minimizacija</a:t>
            </a:r>
            <a:r>
              <a:rPr lang="hr-HR" sz="1400" b="1" u="sng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u="sng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lažno</a:t>
            </a:r>
            <a:r>
              <a:rPr lang="en-US" sz="1400" b="1" u="sng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u="sng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negativnih</a:t>
            </a:r>
            <a:r>
              <a:rPr lang="hr-HR" sz="1400" b="1" u="sng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u="sng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ishoda</a:t>
            </a:r>
            <a:r>
              <a:rPr lang="hr-HR" sz="1400" b="1" u="sng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(FN)</a:t>
            </a:r>
            <a:endParaRPr lang="en-US" sz="1400" b="1" u="sng" dirty="0"/>
          </a:p>
        </p:txBody>
      </p:sp>
      <p:sp>
        <p:nvSpPr>
          <p:cNvPr id="8" name="Shape 6"/>
          <p:cNvSpPr/>
          <p:nvPr/>
        </p:nvSpPr>
        <p:spPr>
          <a:xfrm>
            <a:off x="4873053" y="1448620"/>
            <a:ext cx="3931920" cy="2971800"/>
          </a:xfrm>
          <a:prstGeom prst="roundRect">
            <a:avLst>
              <a:gd name="adj" fmla="val 1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4513" y="1556941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01653" y="18189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Usporedba </a:t>
            </a:r>
            <a:r>
              <a:rPr lang="en-US" sz="14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dvaju</a:t>
            </a: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pristupa</a:t>
            </a: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dubokog učenja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01653" y="2319057"/>
            <a:ext cx="3520440" cy="1957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Vlastita CNN </a:t>
            </a:r>
            <a:r>
              <a:rPr lang="en-US" sz="135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trenirana od nule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unaprijed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istreniran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(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</a:t>
            </a:r>
            <a:r>
              <a:rPr lang="en-US" sz="1350" b="1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učenje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 medicinskim metrikama (odziv, specifičnost, F1, AUC)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interpretacija odluke mreže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75347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TEORIJSKA PODLOGA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Ključni koncepti rješenja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1328"/>
            <a:ext cx="1993392" cy="2788920"/>
          </a:xfrm>
          <a:prstGeom prst="roundRect">
            <a:avLst>
              <a:gd name="adj" fmla="val 275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97864" y="1719072"/>
            <a:ext cx="457200" cy="457200"/>
          </a:xfrm>
          <a:prstGeom prst="ellipse">
            <a:avLst/>
          </a:prstGeom>
          <a:solidFill>
            <a:srgbClr val="1A4E8A"/>
          </a:solidFill>
          <a:ln/>
        </p:spPr>
      </p:sp>
      <p:sp>
        <p:nvSpPr>
          <p:cNvPr id="7" name="Text 5"/>
          <p:cNvSpPr/>
          <p:nvPr/>
        </p:nvSpPr>
        <p:spPr>
          <a:xfrm>
            <a:off x="119786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" y="2322576"/>
            <a:ext cx="1627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Konvolucijske</a:t>
            </a:r>
            <a:r>
              <a:rPr lang="hr-HR" sz="15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neuronske</a:t>
            </a:r>
            <a:r>
              <a:rPr lang="en-US" sz="15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mreže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98648"/>
            <a:ext cx="1627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Izdvajanje vizualnih značajki izravno iz snimki pluća (od jednostavnih rubova do složenijih medicinskih obrazaca).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481328"/>
            <a:ext cx="1993392" cy="2788920"/>
          </a:xfrm>
          <a:prstGeom prst="roundRect">
            <a:avLst>
              <a:gd name="adj" fmla="val 275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00984" y="1728216"/>
            <a:ext cx="457200" cy="457200"/>
          </a:xfrm>
          <a:prstGeom prst="ellipse">
            <a:avLst/>
          </a:prstGeom>
          <a:solidFill>
            <a:srgbClr val="1A4E8A"/>
          </a:solidFill>
          <a:ln/>
        </p:spPr>
      </p:sp>
      <p:sp>
        <p:nvSpPr>
          <p:cNvPr id="12" name="Text 10"/>
          <p:cNvSpPr/>
          <p:nvPr/>
        </p:nvSpPr>
        <p:spPr>
          <a:xfrm>
            <a:off x="3300984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15768" y="240030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učenje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2898648"/>
            <a:ext cx="1627632" cy="133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prethodno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istreniran 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skupu podataka 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ctr">
              <a:buNone/>
            </a:pPr>
            <a:endParaRPr lang="hr-HR" sz="115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rža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konvergencija 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</a:t>
            </a: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</a:t>
            </a: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skup podataka.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481328"/>
            <a:ext cx="1993392" cy="2788920"/>
          </a:xfrm>
          <a:prstGeom prst="roundRect">
            <a:avLst>
              <a:gd name="adj" fmla="val 275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04104" y="1728216"/>
            <a:ext cx="457200" cy="457200"/>
          </a:xfrm>
          <a:prstGeom prst="ellipse">
            <a:avLst/>
          </a:prstGeom>
          <a:solidFill>
            <a:srgbClr val="1A4E8A"/>
          </a:solidFill>
          <a:ln/>
        </p:spPr>
      </p:sp>
      <p:sp>
        <p:nvSpPr>
          <p:cNvPr id="17" name="Text 15"/>
          <p:cNvSpPr/>
          <p:nvPr/>
        </p:nvSpPr>
        <p:spPr>
          <a:xfrm>
            <a:off x="5404104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361438"/>
            <a:ext cx="162763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Učenje</a:t>
            </a:r>
            <a:r>
              <a:rPr lang="en-US" sz="15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prečica</a:t>
            </a:r>
            <a:endParaRPr lang="hr-HR" sz="1500" b="1" dirty="0">
              <a:solidFill>
                <a:srgbClr val="12385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hr-HR" sz="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</a:rPr>
              <a:t>(engl. </a:t>
            </a:r>
            <a:r>
              <a:rPr lang="hr-HR" sz="800" b="1" i="1" dirty="0" err="1">
                <a:solidFill>
                  <a:srgbClr val="475569"/>
                </a:solidFill>
                <a:latin typeface="Cambria" pitchFamily="34" charset="0"/>
                <a:ea typeface="Cambria" pitchFamily="34" charset="-122"/>
              </a:rPr>
              <a:t>shortcut</a:t>
            </a:r>
            <a:r>
              <a:rPr lang="hr-HR" sz="8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hr-HR" sz="800" b="1" i="1" dirty="0" err="1">
                <a:solidFill>
                  <a:srgbClr val="475569"/>
                </a:solidFill>
                <a:latin typeface="Cambria" pitchFamily="34" charset="0"/>
                <a:ea typeface="Cambria" pitchFamily="34" charset="-122"/>
              </a:rPr>
              <a:t>learning</a:t>
            </a:r>
            <a:r>
              <a:rPr lang="hr-HR" sz="8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</a:rPr>
              <a:t>)</a:t>
            </a:r>
            <a:endParaRPr lang="en-US" sz="800" dirty="0">
              <a:solidFill>
                <a:srgbClr val="47556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898648"/>
            <a:ext cx="1627632" cy="962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 da model nauči irelevantne korelacije u podatcima umjesto stvarnih medicinskih obilježja.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1481328"/>
            <a:ext cx="1993392" cy="2788920"/>
          </a:xfrm>
          <a:prstGeom prst="roundRect">
            <a:avLst>
              <a:gd name="adj" fmla="val 275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03004" y="1728216"/>
            <a:ext cx="457200" cy="457200"/>
          </a:xfrm>
          <a:prstGeom prst="ellipse">
            <a:avLst/>
          </a:prstGeom>
          <a:solidFill>
            <a:srgbClr val="1A4E8A"/>
          </a:solidFill>
          <a:ln/>
        </p:spPr>
      </p:sp>
      <p:sp>
        <p:nvSpPr>
          <p:cNvPr id="22" name="Text 20"/>
          <p:cNvSpPr/>
          <p:nvPr/>
        </p:nvSpPr>
        <p:spPr>
          <a:xfrm>
            <a:off x="7503004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0715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2898648"/>
            <a:ext cx="1627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r-HR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Toplinska karta područja s najvećim utjecajem na predikciju modela.</a:t>
            </a:r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SUSTAVA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obrade jedne snimke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" y="244144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Rendgenska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snimka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Ulaz</a:t>
            </a:r>
            <a:r>
              <a:rPr lang="hr-HR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slika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1874520" y="2665476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10" name="Shape 8"/>
          <p:cNvSpPr/>
          <p:nvPr/>
        </p:nvSpPr>
        <p:spPr>
          <a:xfrm>
            <a:off x="209397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0370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85416" y="244144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Predobrada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8541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224×224, normalizacija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3611880" y="2665476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3133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1A4E8A"/>
          </a:solidFill>
          <a:ln w="12700">
            <a:solidFill>
              <a:srgbClr val="1A4E8A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4106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D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22776" y="244144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</a:p>
          <a:p>
            <a:pPr marL="0" indent="0" algn="ctr">
              <a:buNone/>
            </a:pPr>
            <a:r>
              <a:rPr lang="hr-HR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CNN / VGG16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2277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95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950" i="1" dirty="0" err="1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lasifikacija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rot="5400000">
            <a:off x="5349240" y="2665476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56869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7842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0136" y="244144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odluke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013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Youdenov indeks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7086600" y="2665476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06056" y="20574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15784" y="21671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97496" y="244144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4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97496" y="30449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+ Grad-CAM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250" b="1" dirty="0">
                <a:solidFill>
                  <a:srgbClr val="123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projekta</a:t>
            </a:r>
            <a:r>
              <a:rPr lang="en-US" sz="1250" b="1" dirty="0">
                <a:solidFill>
                  <a:srgbClr val="123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 </a:t>
            </a:r>
            <a:r>
              <a:rPr lang="en-US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treniranje.py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evaluacija.py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gui.py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KORIŠTENI SKUP PODATAKA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i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RSNA Pneumonia Detection Challenge</a:t>
            </a:r>
            <a:endParaRPr lang="en-US" sz="3000" i="1" dirty="0"/>
          </a:p>
        </p:txBody>
      </p:sp>
      <p:sp>
        <p:nvSpPr>
          <p:cNvPr id="5" name="Text 3"/>
          <p:cNvSpPr/>
          <p:nvPr/>
        </p:nvSpPr>
        <p:spPr>
          <a:xfrm>
            <a:off x="381278" y="1748262"/>
            <a:ext cx="3895302" cy="218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Javno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dostupan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podataka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platforme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Kaggle</a:t>
            </a: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spcAft>
                <a:spcPts val="1200"/>
              </a:spcAft>
              <a:buSzPct val="100000"/>
            </a:pP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hr-HR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26.684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rendgenskih snimki)</a:t>
            </a:r>
          </a:p>
          <a:p>
            <a:pPr marL="285750" indent="-28575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ravnotežen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skup podataka (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podjednak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broj snimki u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Podjela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podskupove</a:t>
            </a: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treniranje, validaciju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testiranje</a:t>
            </a: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200"/>
              </a:spcAft>
              <a:buSzPct val="100000"/>
            </a:pP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83019" y="1389888"/>
            <a:ext cx="2182602" cy="2711196"/>
          </a:xfrm>
          <a:prstGeom prst="roundRect">
            <a:avLst>
              <a:gd name="adj" fmla="val 289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46283" y="3715870"/>
            <a:ext cx="2056074" cy="34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lang="hr-HR" sz="1200" b="1" dirty="0">
                <a:solidFill>
                  <a:srgbClr val="123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7866" y="1380744"/>
            <a:ext cx="2208318" cy="2720340"/>
          </a:xfrm>
          <a:prstGeom prst="roundRect">
            <a:avLst>
              <a:gd name="adj" fmla="val 289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03794" y="3715870"/>
            <a:ext cx="2056074" cy="34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r>
              <a:rPr lang="hr-HR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20062" y="426065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Primjeri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uredan nalaz (lijevo)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upala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pluća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(desno).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7" name="Slika 16" descr="Rendgenska snimka prsnog koša s urednim nalazom (NORMAL)">
            <a:extLst>
              <a:ext uri="{FF2B5EF4-FFF2-40B4-BE49-F238E27FC236}">
                <a16:creationId xmlns:a16="http://schemas.microsoft.com/office/drawing/2014/main" id="{03255622-4EAF-B869-3F82-954346F6D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554702"/>
            <a:ext cx="2004641" cy="2125975"/>
          </a:xfrm>
          <a:prstGeom prst="rect">
            <a:avLst/>
          </a:prstGeom>
        </p:spPr>
      </p:pic>
      <p:pic>
        <p:nvPicPr>
          <p:cNvPr id="20" name="Slika 19" descr="Rendgenska snimka prsnog koša s upalom pluća (PNEUMONIA)">
            <a:extLst>
              <a:ext uri="{FF2B5EF4-FFF2-40B4-BE49-F238E27FC236}">
                <a16:creationId xmlns:a16="http://schemas.microsoft.com/office/drawing/2014/main" id="{D890623F-4CBE-A43A-10BF-170F47B7F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5924" y="1550130"/>
            <a:ext cx="1971814" cy="2127560"/>
          </a:xfrm>
          <a:prstGeom prst="rect">
            <a:avLst/>
          </a:prstGeom>
        </p:spPr>
      </p:pic>
      <p:sp>
        <p:nvSpPr>
          <p:cNvPr id="21" name="Shape 2">
            <a:extLst>
              <a:ext uri="{FF2B5EF4-FFF2-40B4-BE49-F238E27FC236}">
                <a16:creationId xmlns:a16="http://schemas.microsoft.com/office/drawing/2014/main" id="{267F2E97-131F-1E2A-6A26-03E62B3FAD69}"/>
              </a:ext>
            </a:extLst>
          </p:cNvPr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ARHITEKTURA 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Korišteni modeli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722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r-HR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Vlastita CNN arhitektura: </a:t>
            </a:r>
            <a:r>
              <a:rPr lang="hr-HR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400" b="1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konvolucijska</a:t>
            </a:r>
            <a:r>
              <a:rPr lang="en-US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hr-HR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64 → 128 → 256 </a:t>
            </a:r>
            <a:r>
              <a:rPr lang="en-US" sz="1400" b="1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kanala</a:t>
            </a:r>
            <a:r>
              <a:rPr lang="hr-HR" sz="14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960120" y="1962443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1087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Ulaz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47450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224 × 224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624328" y="2341919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962443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1087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hr-HR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</a:t>
            </a:r>
            <a:r>
              <a:rPr lang="hr-HR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r>
              <a:rPr lang="en-US" sz="145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onv</a:t>
            </a:r>
            <a:r>
              <a:rPr lang="hr-HR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blok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26080" y="247450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256 kanala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498848" y="2341919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9160" y="1962443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1087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00600" y="247450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Globalno prosječno sažimanje</a:t>
            </a:r>
          </a:p>
        </p:txBody>
      </p:sp>
      <p:sp>
        <p:nvSpPr>
          <p:cNvPr id="17" name="Shape 15"/>
          <p:cNvSpPr/>
          <p:nvPr/>
        </p:nvSpPr>
        <p:spPr>
          <a:xfrm rot="5400000">
            <a:off x="6373368" y="2341919"/>
            <a:ext cx="155448" cy="155448"/>
          </a:xfrm>
          <a:prstGeom prst="triangle">
            <a:avLst/>
          </a:prstGeom>
          <a:solidFill>
            <a:srgbClr val="1A4E8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962443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1087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Klasifikator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75120" y="247450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→ 128 →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3917"/>
            <a:ext cx="4572000" cy="1325880"/>
          </a:xfrm>
          <a:prstGeom prst="round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30309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r>
              <a:rPr lang="en-US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konvolucijskog</a:t>
            </a:r>
            <a:r>
              <a:rPr lang="en-US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bloka</a:t>
            </a:r>
            <a:r>
              <a:rPr lang="en-US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(×</a:t>
            </a:r>
            <a:r>
              <a:rPr lang="hr-HR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3661117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b="1" dirty="0"/>
              <a:t>Conv 3×3 + </a:t>
            </a:r>
            <a:r>
              <a:rPr lang="en-US" sz="1200" b="1" dirty="0" err="1"/>
              <a:t>BatchNorm</a:t>
            </a:r>
            <a:r>
              <a:rPr lang="en-US" sz="1200" b="1" dirty="0"/>
              <a:t> + </a:t>
            </a:r>
            <a:r>
              <a:rPr lang="en-US" sz="1200" b="1" dirty="0" err="1"/>
              <a:t>ReLU</a:t>
            </a:r>
            <a:r>
              <a:rPr lang="en-US" sz="1200" b="1" dirty="0"/>
              <a:t> </a:t>
            </a:r>
            <a:r>
              <a:rPr lang="hr-HR" sz="1200" dirty="0"/>
              <a:t>-</a:t>
            </a:r>
            <a:r>
              <a:rPr lang="en-US" sz="1200" dirty="0"/>
              <a:t> </a:t>
            </a:r>
            <a:r>
              <a:rPr lang="en-US" sz="1200" dirty="0" err="1"/>
              <a:t>izdvajanje</a:t>
            </a:r>
            <a:r>
              <a:rPr lang="en-US" sz="1200" dirty="0"/>
              <a:t> </a:t>
            </a:r>
            <a:r>
              <a:rPr lang="en-US" sz="1200" dirty="0" err="1"/>
              <a:t>značajki</a:t>
            </a:r>
            <a:endParaRPr lang="hr-HR" sz="120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b="1" dirty="0"/>
              <a:t>SE </a:t>
            </a:r>
            <a:r>
              <a:rPr lang="en-US" sz="1200" b="1" dirty="0" err="1"/>
              <a:t>mehanizam</a:t>
            </a:r>
            <a:r>
              <a:rPr lang="en-US" sz="1200" b="1" dirty="0"/>
              <a:t> </a:t>
            </a:r>
            <a:r>
              <a:rPr lang="hr-HR" sz="1200" dirty="0"/>
              <a:t>-</a:t>
            </a:r>
            <a:r>
              <a:rPr lang="en-US" sz="1200" dirty="0"/>
              <a:t> </a:t>
            </a:r>
            <a:r>
              <a:rPr lang="en-US" sz="1200" dirty="0" err="1"/>
              <a:t>isticanje</a:t>
            </a:r>
            <a:r>
              <a:rPr lang="en-US" sz="1200" dirty="0"/>
              <a:t> </a:t>
            </a:r>
            <a:r>
              <a:rPr lang="en-US" sz="1200" dirty="0" err="1"/>
              <a:t>važnijih</a:t>
            </a:r>
            <a:r>
              <a:rPr lang="en-US" sz="1200" dirty="0"/>
              <a:t> </a:t>
            </a:r>
            <a:r>
              <a:rPr lang="en-US" sz="1200" dirty="0" err="1"/>
              <a:t>kanala</a:t>
            </a:r>
            <a:endParaRPr lang="hr-HR" sz="120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b="1" dirty="0"/>
              <a:t>Dropout2D + </a:t>
            </a:r>
            <a:r>
              <a:rPr lang="en-US" sz="1200" b="1" dirty="0" err="1"/>
              <a:t>MaxPool</a:t>
            </a:r>
            <a:r>
              <a:rPr lang="en-US" sz="1200" b="1" dirty="0"/>
              <a:t> </a:t>
            </a:r>
            <a:r>
              <a:rPr lang="hr-HR" sz="1200" dirty="0"/>
              <a:t>-</a:t>
            </a:r>
            <a:r>
              <a:rPr lang="en-US" sz="1200" dirty="0"/>
              <a:t> </a:t>
            </a:r>
            <a:r>
              <a:rPr lang="en-US" sz="1200" dirty="0" err="1"/>
              <a:t>regularizacija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hr-HR" sz="1200" dirty="0"/>
              <a:t>prostorno sažimanje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3203917"/>
            <a:ext cx="3474720" cy="1325880"/>
          </a:xfrm>
          <a:prstGeom prst="round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94960" y="3300281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</a:t>
            </a:r>
            <a:r>
              <a:rPr lang="hr-HR" sz="120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(transfer učenje)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02AAAE7D-6ADB-0F27-BFFE-DD003AAE8BCB}"/>
              </a:ext>
            </a:extLst>
          </p:cNvPr>
          <p:cNvSpPr/>
          <p:nvPr/>
        </p:nvSpPr>
        <p:spPr>
          <a:xfrm>
            <a:off x="5280660" y="3670261"/>
            <a:ext cx="3272497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dirty="0" err="1"/>
              <a:t>Zadržana</a:t>
            </a:r>
            <a:r>
              <a:rPr lang="en-US" sz="1200" dirty="0"/>
              <a:t> </a:t>
            </a:r>
            <a:r>
              <a:rPr lang="en-US" sz="1200" dirty="0" err="1"/>
              <a:t>prethodno</a:t>
            </a:r>
            <a:r>
              <a:rPr lang="en-US" sz="1200" dirty="0"/>
              <a:t> </a:t>
            </a:r>
            <a:r>
              <a:rPr lang="en-US" sz="1200" dirty="0" err="1"/>
              <a:t>istrenirana</a:t>
            </a:r>
            <a:r>
              <a:rPr lang="en-US" sz="1200" dirty="0"/>
              <a:t> </a:t>
            </a:r>
            <a:r>
              <a:rPr lang="en-US" sz="1200" dirty="0" err="1"/>
              <a:t>baza</a:t>
            </a:r>
            <a:endParaRPr lang="hr-HR" sz="120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200" dirty="0"/>
              <a:t>Novi </a:t>
            </a:r>
            <a:r>
              <a:rPr lang="en-US" sz="1200" dirty="0" err="1"/>
              <a:t>klasifikacijski</a:t>
            </a:r>
            <a:r>
              <a:rPr lang="en-US" sz="1200" dirty="0"/>
              <a:t> </a:t>
            </a:r>
            <a:r>
              <a:rPr lang="en-US" sz="1200" dirty="0" err="1"/>
              <a:t>sloj</a:t>
            </a:r>
            <a:r>
              <a:rPr lang="en-US" sz="1200" dirty="0"/>
              <a:t> za </a:t>
            </a:r>
            <a:r>
              <a:rPr lang="hr-HR" sz="1200" b="1" dirty="0"/>
              <a:t>2</a:t>
            </a:r>
            <a:r>
              <a:rPr lang="en-US" sz="1200" b="1" dirty="0"/>
              <a:t> </a:t>
            </a:r>
            <a:r>
              <a:rPr lang="en-US" sz="1200" b="1" dirty="0" err="1"/>
              <a:t>klase</a:t>
            </a:r>
            <a:endParaRPr lang="hr-HR" sz="1200" b="1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200" dirty="0"/>
              <a:t>Ugađanje </a:t>
            </a:r>
            <a:r>
              <a:rPr lang="en-US" sz="1200" dirty="0" err="1"/>
              <a:t>zadnjeg</a:t>
            </a:r>
            <a:r>
              <a:rPr lang="en-US" sz="1200" dirty="0"/>
              <a:t> </a:t>
            </a:r>
            <a:r>
              <a:rPr lang="en-US" sz="1200" dirty="0" err="1"/>
              <a:t>konvolucijskog</a:t>
            </a:r>
            <a:r>
              <a:rPr lang="en-US" sz="1200" dirty="0"/>
              <a:t> </a:t>
            </a:r>
            <a:r>
              <a:rPr lang="en-US" sz="1200" dirty="0" err="1"/>
              <a:t>bloka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PREDOBRADA SLIKA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Ujednačavanje formata i augmentacija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132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6824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Ujednačavanje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6072" y="2195424"/>
            <a:ext cx="24597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Pretvorba u t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rokanalni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oblik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Skaliranje i izrez na 224×224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Normalizacija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vrijednosti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piksela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48132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6824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Deterministička obrada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53618" y="2193192"/>
            <a:ext cx="248998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 se za v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alidacij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inferencij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Skaliranje + središnji izrez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Smanj</a:t>
            </a:r>
            <a:r>
              <a:rPr lang="hr-HR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utjecaj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rubova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oznaka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slikama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1481328"/>
            <a:ext cx="2697480" cy="2331720"/>
          </a:xfrm>
          <a:prstGeom prst="roundRect">
            <a:avLst>
              <a:gd name="adj" fmla="val 235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82512" y="1682496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5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Augmentacija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59" y="2195424"/>
            <a:ext cx="2504049" cy="1478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Izrezivanje, zrcaljenje, rotacija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Promjena svjetline i kontrasta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Umjereni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intenzitet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transformacija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AF1F9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005072"/>
            <a:ext cx="8037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</a:t>
            </a:r>
            <a:r>
              <a:rPr lang="hr-HR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1250" b="1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redobrada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augmentacija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smanjuju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učenja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prečica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se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usmjerava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plućna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područja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ne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rubove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oznake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slike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POBOLJŠANJE PERFORMANSI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Regularizacija i optimizacija praga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937654" y="1460754"/>
            <a:ext cx="3265200" cy="31135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18108" y="1760455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6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Regularizacija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0534" y="2285839"/>
            <a:ext cx="2866320" cy="179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ugmentacija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hr-HR" sz="1400" i="1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zaustavljanje</a:t>
            </a: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hr-HR" sz="14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mehanizam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pažnje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DEFBD906-3BF6-0610-1677-D700F8E06088}"/>
              </a:ext>
            </a:extLst>
          </p:cNvPr>
          <p:cNvSpPr/>
          <p:nvPr/>
        </p:nvSpPr>
        <p:spPr>
          <a:xfrm>
            <a:off x="4941146" y="1460754"/>
            <a:ext cx="3265200" cy="3113532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B7ACFCA-85E8-A656-EF7F-F1F27024462C}"/>
              </a:ext>
            </a:extLst>
          </p:cNvPr>
          <p:cNvSpPr/>
          <p:nvPr/>
        </p:nvSpPr>
        <p:spPr>
          <a:xfrm>
            <a:off x="5421602" y="1746343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sz="16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Optimizacija praga</a:t>
            </a:r>
            <a:endParaRPr lang="en-US" sz="1600" dirty="0"/>
          </a:p>
        </p:txBody>
      </p:sp>
      <p:sp>
        <p:nvSpPr>
          <p:cNvPr id="60" name="Opt intro"/>
          <p:cNvSpPr/>
          <p:nvPr/>
        </p:nvSpPr>
        <p:spPr>
          <a:xfrm>
            <a:off x="5157144" y="2265426"/>
            <a:ext cx="286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r-HR" sz="1300" dirty="0">
                <a:solidFill>
                  <a:srgbClr val="374151"/>
                </a:solidFill>
                <a:latin typeface="Calibri" pitchFamily="34" charset="0"/>
                <a:cs typeface="Calibri" pitchFamily="34"/>
              </a:rPr>
              <a:t>Prag odluke uči se na validacijskom skupu i ne fiksira se:</a:t>
            </a:r>
          </a:p>
        </p:txBody>
      </p:sp>
      <p:sp>
        <p:nvSpPr>
          <p:cNvPr id="61" name="Formula box"/>
          <p:cNvSpPr/>
          <p:nvPr/>
        </p:nvSpPr>
        <p:spPr>
          <a:xfrm>
            <a:off x="5157144" y="2839387"/>
            <a:ext cx="2866320" cy="566928"/>
          </a:xfrm>
          <a:prstGeom prst="roundRect">
            <a:avLst>
              <a:gd name="adj" fmla="val 12000"/>
            </a:avLst>
          </a:prstGeom>
          <a:solidFill>
            <a:srgbClr val="EAF1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hr-HR" sz="1500" b="1" dirty="0">
                <a:solidFill>
                  <a:srgbClr val="12385F"/>
                </a:solidFill>
                <a:latin typeface="Calibri" pitchFamily="34" charset="0"/>
                <a:cs typeface="Calibri" pitchFamily="34"/>
              </a:rPr>
              <a:t>J = Odziv + Specifičnost - 1</a:t>
            </a:r>
          </a:p>
        </p:txBody>
      </p:sp>
      <p:sp>
        <p:nvSpPr>
          <p:cNvPr id="62" name="Opt bullets"/>
          <p:cNvSpPr/>
          <p:nvPr/>
        </p:nvSpPr>
        <p:spPr>
          <a:xfrm>
            <a:off x="5157144" y="3564225"/>
            <a:ext cx="286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cs typeface="Calibri" pitchFamily="34"/>
              </a:rPr>
              <a:t>Bira se prag s najvećim </a:t>
            </a:r>
            <a:r>
              <a:rPr lang="hr-HR" sz="1300" dirty="0" err="1">
                <a:solidFill>
                  <a:srgbClr val="374151"/>
                </a:solidFill>
                <a:latin typeface="Calibri" pitchFamily="34" charset="0"/>
                <a:cs typeface="Calibri" pitchFamily="34"/>
              </a:rPr>
              <a:t>Youdenovim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cs typeface="Calibri" pitchFamily="34"/>
              </a:rPr>
              <a:t> J indeksom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cs typeface="Calibri" pitchFamily="34"/>
              </a:rPr>
              <a:t>Spušten za veću osjetljivost → manje propuštenih upala (FN)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Grafičko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korisničko sučelje 1/2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pic>
        <p:nvPicPr>
          <p:cNvPr id="6" name="Image 0" descr="Sučelje aplikacije prije učitavanja modela i pokretanja analiz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451" y="1138482"/>
            <a:ext cx="5074216" cy="3564750"/>
          </a:xfrm>
          <a:prstGeom prst="rect">
            <a:avLst/>
          </a:prstGeom>
          <a:ln>
            <a:solidFill>
              <a:srgbClr val="12385F"/>
            </a:solidFill>
          </a:ln>
        </p:spPr>
      </p:pic>
      <p:sp>
        <p:nvSpPr>
          <p:cNvPr id="7" name="Text 4"/>
          <p:cNvSpPr/>
          <p:nvPr/>
        </p:nvSpPr>
        <p:spPr>
          <a:xfrm>
            <a:off x="274672" y="2043684"/>
            <a:ext cx="3520440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čitavanje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jedne ili više snimki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Odabir modela: 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vlastiti 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ili 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350" b="1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Prikaz klase, vjerojatnosti i praga odluke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toplinska karta 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svaku snimku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Izvoz rezultata: 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r>
              <a:rPr lang="hr-HR" sz="13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datoteka</a:t>
            </a:r>
            <a:endParaRPr lang="en-US" sz="1350" b="1" dirty="0"/>
          </a:p>
        </p:txBody>
      </p:sp>
      <p:sp>
        <p:nvSpPr>
          <p:cNvPr id="10" name="Text 7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Grafičko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korisničko sučelje 2/2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2" name="Slika 11" descr="Sučelje aplikacije nakon analize s Grad-CAM toplinskom kartom">
            <a:extLst>
              <a:ext uri="{FF2B5EF4-FFF2-40B4-BE49-F238E27FC236}">
                <a16:creationId xmlns:a16="http://schemas.microsoft.com/office/drawing/2014/main" id="{AFB6C531-ED8D-66D0-DD98-FF86C7966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077" y="1170432"/>
            <a:ext cx="5337248" cy="3728545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  <p:extLst>
      <p:ext uri="{BB962C8B-B14F-4D97-AF65-F5344CB8AC3E}">
        <p14:creationId xmlns:p14="http://schemas.microsoft.com/office/powerpoint/2010/main" val="41128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EVALUACIJE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Usporedba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1328"/>
            <a:ext cx="3703320" cy="932688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6002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0,967 / 0,974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6656" y="20482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 / VGG16)</a:t>
            </a:r>
            <a:r>
              <a:rPr lang="hr-HR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hr-HR" sz="11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VGG16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3703320" cy="932688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651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93,1 %</a:t>
            </a:r>
            <a:r>
              <a:rPr lang="hr-HR" sz="24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90,0 %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" y="30998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ODZIV </a:t>
            </a:r>
            <a:r>
              <a:rPr lang="hr-HR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r>
              <a:rPr lang="hr-HR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VGG16)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hr-HR" sz="11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CNN (manji udio FN)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84448"/>
            <a:ext cx="3703320" cy="932688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703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24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87,7 % / </a:t>
            </a:r>
            <a:r>
              <a:rPr lang="en-US" sz="2400" b="1" dirty="0">
                <a:solidFill>
                  <a:srgbClr val="1A4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" y="41513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SPECIFIČNOST</a:t>
            </a:r>
            <a:r>
              <a:rPr lang="hr-HR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 / VGG16) 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hr-HR" sz="11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VGG16 (manji udio FP)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7822"/>
              </p:ext>
            </p:extLst>
          </p:nvPr>
        </p:nvGraphicFramePr>
        <p:xfrm>
          <a:off x="4370832" y="1627632"/>
          <a:ext cx="4315968" cy="1545336"/>
        </p:xfrm>
        <a:graphic>
          <a:graphicData uri="http://schemas.openxmlformats.org/drawingml/2006/table">
            <a:tbl>
              <a:tblPr/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Točnost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Odziv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38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od nule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90,40 %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238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92,65 %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92,45 %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438356" y="3523254"/>
            <a:ext cx="431596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bolju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ukupnu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točnost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specifičnost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CNN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bolji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odziv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odnosno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manji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lažno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negativnih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ishoda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b="1" dirty="0"/>
          </a:p>
        </p:txBody>
      </p:sp>
      <p:sp>
        <p:nvSpPr>
          <p:cNvPr id="16" name="Text 1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EVALUACIJE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konfuzije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9" name="Image 0" descr="Matrica konfuzije CNN modela">
            <a:extLst>
              <a:ext uri="{FF2B5EF4-FFF2-40B4-BE49-F238E27FC236}">
                <a16:creationId xmlns:a16="http://schemas.microsoft.com/office/drawing/2014/main" id="{B15AB95D-05BF-8047-A71B-BFBFB6F83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27" y="1386371"/>
            <a:ext cx="3359365" cy="3079417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21" name="Image 1" descr="Matrica konfuzije modela VGG16">
            <a:extLst>
              <a:ext uri="{FF2B5EF4-FFF2-40B4-BE49-F238E27FC236}">
                <a16:creationId xmlns:a16="http://schemas.microsoft.com/office/drawing/2014/main" id="{BE7AEBEC-DAE8-13AA-4965-9A9F35CBD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575" y="1386371"/>
            <a:ext cx="3359365" cy="3079417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  <p:extLst>
      <p:ext uri="{BB962C8B-B14F-4D97-AF65-F5344CB8AC3E}">
        <p14:creationId xmlns:p14="http://schemas.microsoft.com/office/powerpoint/2010/main" val="3164835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EVALUACIJE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krivulje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2" descr="ROC krivulja CNN modela, AUC 0,967">
            <a:extLst>
              <a:ext uri="{FF2B5EF4-FFF2-40B4-BE49-F238E27FC236}">
                <a16:creationId xmlns:a16="http://schemas.microsoft.com/office/drawing/2014/main" id="{83C6F922-1193-D80A-0A68-710DDBAF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26" y="1386371"/>
            <a:ext cx="3359365" cy="3079418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8" name="Image 3" descr="ROC krivulja modela VGG16, AUC 0,974">
            <a:extLst>
              <a:ext uri="{FF2B5EF4-FFF2-40B4-BE49-F238E27FC236}">
                <a16:creationId xmlns:a16="http://schemas.microsoft.com/office/drawing/2014/main" id="{82434A1F-4592-3CA9-C798-2BFDCD93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573" y="1386370"/>
            <a:ext cx="3359365" cy="3079419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  <p:extLst>
      <p:ext uri="{BB962C8B-B14F-4D97-AF65-F5344CB8AC3E}">
        <p14:creationId xmlns:p14="http://schemas.microsoft.com/office/powerpoint/2010/main" val="555175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PRIMJERI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Ispravna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klasifikacija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(TP)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6" name="Slika 15" descr="Rezultat modela VGG16, upala pluća ispravno prepoznata">
            <a:extLst>
              <a:ext uri="{FF2B5EF4-FFF2-40B4-BE49-F238E27FC236}">
                <a16:creationId xmlns:a16="http://schemas.microsoft.com/office/drawing/2014/main" id="{47053BF3-129A-76AE-4C80-C82AC622A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79" y="1434409"/>
            <a:ext cx="4192834" cy="3222385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17" name="Slika 16" descr="Rezultat CNN modela, upala pluća ispravno prepoznata">
            <a:extLst>
              <a:ext uri="{FF2B5EF4-FFF2-40B4-BE49-F238E27FC236}">
                <a16:creationId xmlns:a16="http://schemas.microsoft.com/office/drawing/2014/main" id="{BCB7DABB-13BE-C216-1365-C51605128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89" y="1434409"/>
            <a:ext cx="4192835" cy="3217326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PRIMJERI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Ispravna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klasifikacija</a:t>
            </a: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 (TN)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Slika 4" descr="Rezultat modela VGG16, normalan nalaz ispravno prepoznat">
            <a:extLst>
              <a:ext uri="{FF2B5EF4-FFF2-40B4-BE49-F238E27FC236}">
                <a16:creationId xmlns:a16="http://schemas.microsoft.com/office/drawing/2014/main" id="{91A0BEE4-1F16-1019-D485-5A802F732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75" y="1434822"/>
            <a:ext cx="4192835" cy="3234921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7" name="Slika 6" descr="Rezultat CNN modela, normalan nalaz ispravno prepoznat">
            <a:extLst>
              <a:ext uri="{FF2B5EF4-FFF2-40B4-BE49-F238E27FC236}">
                <a16:creationId xmlns:a16="http://schemas.microsoft.com/office/drawing/2014/main" id="{36586BE5-E734-44D7-DC28-3F7D04CFB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90" y="1434823"/>
            <a:ext cx="4192835" cy="3234921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  <p:extLst>
      <p:ext uri="{BB962C8B-B14F-4D97-AF65-F5344CB8AC3E}">
        <p14:creationId xmlns:p14="http://schemas.microsoft.com/office/powerpoint/2010/main" val="3013774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Neispravna klasifikacija 1/2 (FP)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5" name="Slika 24" descr="Rezultat modela VGG16, normalan nalaz pogrešno označen kao upala pluća">
            <a:extLst>
              <a:ext uri="{FF2B5EF4-FFF2-40B4-BE49-F238E27FC236}">
                <a16:creationId xmlns:a16="http://schemas.microsoft.com/office/drawing/2014/main" id="{6B84289A-7CD0-3DBB-8A28-D75CDD80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68" y="1353768"/>
            <a:ext cx="4192835" cy="3226232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26" name="Slika 25" descr="Rezultat CNN modela, normalan nalaz pogrešno označen kao upala pluća">
            <a:extLst>
              <a:ext uri="{FF2B5EF4-FFF2-40B4-BE49-F238E27FC236}">
                <a16:creationId xmlns:a16="http://schemas.microsoft.com/office/drawing/2014/main" id="{C1311F94-D975-EF60-DC7D-6F1650458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99" y="1354225"/>
            <a:ext cx="4192835" cy="3240635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Neispravna klasifikacija 2/2 (FN)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Slika 5" descr="Rezultat CNN modela, propuštena upala pluća">
            <a:extLst>
              <a:ext uri="{FF2B5EF4-FFF2-40B4-BE49-F238E27FC236}">
                <a16:creationId xmlns:a16="http://schemas.microsoft.com/office/drawing/2014/main" id="{3CBA4771-7D8A-A0AB-AA42-FEB09EA29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5" y="1389888"/>
            <a:ext cx="4192835" cy="3244854"/>
          </a:xfrm>
          <a:prstGeom prst="rect">
            <a:avLst/>
          </a:prstGeom>
          <a:ln>
            <a:solidFill>
              <a:srgbClr val="12385F"/>
            </a:solidFill>
          </a:ln>
        </p:spPr>
      </p:pic>
      <p:pic>
        <p:nvPicPr>
          <p:cNvPr id="7" name="Slika 6" descr="Rezultat modela VGG16, propuštena upala pluća">
            <a:extLst>
              <a:ext uri="{FF2B5EF4-FFF2-40B4-BE49-F238E27FC236}">
                <a16:creationId xmlns:a16="http://schemas.microsoft.com/office/drawing/2014/main" id="{DD32012B-E9C9-BAD8-26FE-0F772DEA2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1395726"/>
            <a:ext cx="4192835" cy="3240635"/>
          </a:xfrm>
          <a:prstGeom prst="rect">
            <a:avLst/>
          </a:prstGeom>
          <a:ln>
            <a:solidFill>
              <a:srgbClr val="12385F"/>
            </a:solidFill>
          </a:ln>
        </p:spPr>
      </p:pic>
    </p:spTree>
    <p:extLst>
      <p:ext uri="{BB962C8B-B14F-4D97-AF65-F5344CB8AC3E}">
        <p14:creationId xmlns:p14="http://schemas.microsoft.com/office/powerpoint/2010/main" val="390583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r>
              <a:rPr lang="hr-HR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OGRANIČENJA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Zašto model zakazuje?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70" name="Intro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hr-HR" sz="1350" i="1" dirty="0">
                <a:solidFill>
                  <a:srgbClr val="6B7280"/>
                </a:solidFill>
                <a:latin typeface="Calibri" pitchFamily="34" charset="0"/>
                <a:cs typeface="Calibri" pitchFamily="34"/>
              </a:rPr>
              <a:t>Glavna ograničenja sustava i tipične situacije u kojima predikcija nije pouzdana.</a:t>
            </a:r>
          </a:p>
        </p:txBody>
      </p:sp>
      <p:sp>
        <p:nvSpPr>
          <p:cNvPr id="10" name="Shape 6"/>
          <p:cNvSpPr/>
          <p:nvPr/>
        </p:nvSpPr>
        <p:spPr>
          <a:xfrm>
            <a:off x="284871" y="1965960"/>
            <a:ext cx="3967089" cy="1051560"/>
          </a:xfrm>
          <a:prstGeom prst="roundRect">
            <a:avLst>
              <a:gd name="adj" fmla="val 7692"/>
            </a:avLst>
          </a:prstGeom>
          <a:solidFill>
            <a:srgbClr val="EBEDF0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67751" y="2093976"/>
            <a:ext cx="365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Propuštene upale (FN)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7751" y="2432304"/>
            <a:ext cx="365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ne prepoznaje 100 stvarnih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slučajeva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najveći klinički rizik.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4871" y="3154680"/>
            <a:ext cx="3967089" cy="1051560"/>
          </a:xfrm>
          <a:prstGeom prst="roundRect">
            <a:avLst>
              <a:gd name="adj" fmla="val 7692"/>
            </a:avLst>
          </a:prstGeom>
          <a:solidFill>
            <a:srgbClr val="EBEDF0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75488" y="3282696"/>
            <a:ext cx="365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Difuzan Grad-CAM (VGG16)</a:t>
            </a:r>
            <a:endParaRPr lang="en-US" sz="1350" b="1" dirty="0"/>
          </a:p>
        </p:txBody>
      </p:sp>
      <p:sp>
        <p:nvSpPr>
          <p:cNvPr id="15" name="Text 11"/>
          <p:cNvSpPr/>
          <p:nvPr/>
        </p:nvSpPr>
        <p:spPr>
          <a:xfrm>
            <a:off x="467751" y="3621024"/>
            <a:ext cx="365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širi i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precizan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teža</a:t>
            </a:r>
            <a:r>
              <a:rPr lang="hr-HR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interpretacij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odluke.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19711" y="1965960"/>
            <a:ext cx="3967089" cy="1051560"/>
          </a:xfrm>
          <a:prstGeom prst="roundRect">
            <a:avLst>
              <a:gd name="adj" fmla="val 7692"/>
            </a:avLst>
          </a:prstGeom>
          <a:solidFill>
            <a:srgbClr val="EBEDF0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76823" y="2103120"/>
            <a:ext cx="365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Učenje prečica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804117" y="2432304"/>
            <a:ext cx="37513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Moguće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dalje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djelomično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oslanjanje na obrasce specifične za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19711" y="3154680"/>
            <a:ext cx="3967089" cy="1051560"/>
          </a:xfrm>
          <a:prstGeom prst="roundRect">
            <a:avLst>
              <a:gd name="adj" fmla="val 7692"/>
            </a:avLst>
          </a:prstGeom>
          <a:solidFill>
            <a:srgbClr val="EBEDF0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53354" y="3291840"/>
            <a:ext cx="365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Kompromis praga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902591" y="3621024"/>
            <a:ext cx="3652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Niži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smanjuje udio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FN, </a:t>
            </a:r>
            <a:r>
              <a:rPr lang="en-US" sz="1100" dirty="0" err="1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povećava udio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42813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Sažetak i smjernice za nastavak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566928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1328"/>
            <a:ext cx="4160520" cy="2926080"/>
          </a:xfrm>
          <a:prstGeom prst="roundRect">
            <a:avLst>
              <a:gd name="adj" fmla="val 187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POSTIGNUTO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12140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Sustav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detekciju upale pluća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Usporedba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vlastitog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VGG16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Naglasak na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minimizaciji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Optimizacija praga Youdenovim indeksom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potvrđuje fokus na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plućnim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krilima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81328"/>
            <a:ext cx="3886200" cy="2926080"/>
          </a:xfrm>
          <a:prstGeom prst="roundRect">
            <a:avLst>
              <a:gd name="adj" fmla="val 187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01768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BUDUĆI RAZVOJ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38344" y="2121408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Validacija na većem,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neovisnom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skupu</a:t>
            </a:r>
            <a:r>
              <a:rPr lang="hr-HR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podataka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(druge bolnice i uređaji)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Usporedba s dodatnim arhitekturama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Proširenje i raznolikost skupa podataka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Daljnja optimizacija praga radi robusnosti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Strojno učenje</a:t>
            </a: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4736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</a:t>
            </a:r>
            <a:r>
              <a:rPr lang="hr-HR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1238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A4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19385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238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Pitanja?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59536" y="2907792"/>
            <a:ext cx="914400" cy="41148"/>
          </a:xfrm>
          <a:prstGeom prst="rect">
            <a:avLst/>
          </a:prstGeom>
          <a:solidFill>
            <a:srgbClr val="1A4E8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Detekcija upale pluća iz rendgenskih snimki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35295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Tomislav Perković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FERIT Osijek   ·   Strojno učenje   ·   Osijek, 2026.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1084</Words>
  <Application>Microsoft Office PowerPoint</Application>
  <PresentationFormat>Prikaz na zaslonu (16:9)</PresentationFormat>
  <Paragraphs>253</Paragraphs>
  <Slides>20</Slides>
  <Notes>20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Wingdings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Detekcija upale pluća iz rendgenskih snimki</dc:title>
  <dc:subject>PptxGenJS Presentation</dc:subject>
  <dc:creator>Tomislav Perković</dc:creator>
  <cp:lastModifiedBy>Tomislav Perković</cp:lastModifiedBy>
  <cp:revision>6</cp:revision>
  <dcterms:created xsi:type="dcterms:W3CDTF">2026-06-14T09:30:30Z</dcterms:created>
  <dcterms:modified xsi:type="dcterms:W3CDTF">2026-06-14T14:34:01Z</dcterms:modified>
</cp:coreProperties>
</file>